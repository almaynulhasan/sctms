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2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24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748B"/>
    <a:srgbClr val="065A82"/>
    <a:srgbClr val="021526"/>
    <a:srgbClr val="1A3A5C"/>
    <a:srgbClr val="00B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7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8411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43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41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F2670F15-0B4C-4BC0-9474-C816DEBBF12B}"/>
              </a:ext>
            </a:extLst>
          </p:cNvPr>
          <p:cNvGrpSpPr/>
          <p:nvPr/>
        </p:nvGrpSpPr>
        <p:grpSpPr>
          <a:xfrm>
            <a:off x="325120" y="3579223"/>
            <a:ext cx="8595360" cy="1188720"/>
            <a:chOff x="274320" y="3337560"/>
            <a:chExt cx="8595360" cy="1188720"/>
          </a:xfrm>
        </p:grpSpPr>
        <p:sp>
          <p:nvSpPr>
            <p:cNvPr id="10" name="Shape 7"/>
            <p:cNvSpPr/>
            <p:nvPr/>
          </p:nvSpPr>
          <p:spPr>
            <a:xfrm>
              <a:off x="274320" y="3337560"/>
              <a:ext cx="5029200" cy="1188720"/>
            </a:xfrm>
            <a:prstGeom prst="rect">
              <a:avLst/>
            </a:prstGeom>
            <a:solidFill>
              <a:srgbClr val="065A82">
                <a:alpha val="50000"/>
              </a:srgbClr>
            </a:solidFill>
            <a:ln w="10160">
              <a:solidFill>
                <a:srgbClr val="00B4D8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411935" y="3370362"/>
              <a:ext cx="4663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B4D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Submitted By</a:t>
              </a:r>
              <a:endParaRPr lang="en-US" sz="1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411935" y="3543663"/>
              <a:ext cx="47548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Md. Al-</a:t>
              </a:r>
              <a:r>
                <a:rPr lang="en-US" sz="1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Maynul</a:t>
              </a:r>
              <a:r>
                <a:rPr lang="en-US" sz="1200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Hasan -0802420205101025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Md. Asif Hasan - 0802420205101032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Md. Maruf </a:t>
              </a:r>
              <a:r>
                <a:rPr lang="en-US" sz="1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Siddiki</a:t>
              </a:r>
              <a:r>
                <a:rPr lang="en-US" sz="1200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- 0802420205101034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Shape 10"/>
            <p:cNvSpPr/>
            <p:nvPr/>
          </p:nvSpPr>
          <p:spPr>
            <a:xfrm>
              <a:off x="5577840" y="3337560"/>
              <a:ext cx="3291840" cy="1188720"/>
            </a:xfrm>
            <a:prstGeom prst="rect">
              <a:avLst/>
            </a:prstGeom>
            <a:solidFill>
              <a:srgbClr val="1C7293">
                <a:alpha val="45000"/>
              </a:srgbClr>
            </a:solidFill>
            <a:ln w="10160">
              <a:solidFill>
                <a:srgbClr val="1C7293"/>
              </a:solidFill>
              <a:prstDash val="solid"/>
            </a:ln>
          </p:spPr>
        </p:sp>
        <p:sp>
          <p:nvSpPr>
            <p:cNvPr id="14" name="Text 11"/>
            <p:cNvSpPr/>
            <p:nvPr/>
          </p:nvSpPr>
          <p:spPr>
            <a:xfrm>
              <a:off x="5715000" y="3346994"/>
              <a:ext cx="3017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B4D8"/>
                  </a:solidFill>
                  <a:latin typeface="Times New Roman" panose="02020603050405020304" pitchFamily="18" charset="0"/>
                  <a:ea typeface="Arial" pitchFamily="34" charset="-122"/>
                  <a:cs typeface="Times New Roman" panose="02020603050405020304" pitchFamily="18" charset="0"/>
                </a:rPr>
                <a:t>Submitted To</a:t>
              </a:r>
              <a:endPara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5715000" y="3543663"/>
              <a:ext cx="30175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AKZ Rasel Rahman, Lecturer 
S.M Golam Rifat, Lecturers
</a:t>
              </a:r>
              <a:endPara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2921BAC-8267-430B-B29E-6BEF8D7DF76E}"/>
              </a:ext>
            </a:extLst>
          </p:cNvPr>
          <p:cNvSpPr txBox="1"/>
          <p:nvPr/>
        </p:nvSpPr>
        <p:spPr>
          <a:xfrm>
            <a:off x="133185" y="201840"/>
            <a:ext cx="873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 defTabSz="685800"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Database Management System Sessional</a:t>
            </a:r>
          </a:p>
          <a:p>
            <a:pPr algn="ctr" defTabSz="685800"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 2206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AB11299-54F2-4328-9F47-C470A1664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628" y="1517918"/>
            <a:ext cx="1099972" cy="109997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C7011CB-D352-4A78-A464-9C4EC9267255}"/>
              </a:ext>
            </a:extLst>
          </p:cNvPr>
          <p:cNvSpPr txBox="1"/>
          <p:nvPr/>
        </p:nvSpPr>
        <p:spPr>
          <a:xfrm>
            <a:off x="616112" y="2743200"/>
            <a:ext cx="859536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spcAft>
                <a:spcPts val="450"/>
              </a:spcAft>
            </a:pPr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Project: Smart City Transport Management System</a:t>
            </a:r>
          </a:p>
        </p:txBody>
      </p:sp>
      <p:sp>
        <p:nvSpPr>
          <p:cNvPr id="26" name="Google Shape;340;p28">
            <a:extLst>
              <a:ext uri="{FF2B5EF4-FFF2-40B4-BE49-F238E27FC236}">
                <a16:creationId xmlns:a16="http://schemas.microsoft.com/office/drawing/2014/main" id="{15CC60BB-AC64-4A76-A655-457A96B477A5}"/>
              </a:ext>
            </a:extLst>
          </p:cNvPr>
          <p:cNvSpPr txBox="1">
            <a:spLocks/>
          </p:cNvSpPr>
          <p:nvPr/>
        </p:nvSpPr>
        <p:spPr>
          <a:xfrm>
            <a:off x="411935" y="-44925"/>
            <a:ext cx="8643035" cy="77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 fontAlgn="base"/>
            <a:r>
              <a:rPr lang="en-US" sz="28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664258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502920" cy="713232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7498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0881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Objectives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27048"/>
            <a:ext cx="502920" cy="713232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91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59105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9293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capabilities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68296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68296"/>
            <a:ext cx="502920" cy="713232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328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4323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7706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languages &amp; system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09544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09544"/>
            <a:ext cx="502920" cy="713232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741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273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6118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API overview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50792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50792"/>
            <a:ext cx="502920" cy="713232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153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114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Screenshots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4531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walkthrough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685800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685800"/>
            <a:ext cx="502920" cy="713232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8503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7498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Exchange Feature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10881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deep-dive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527048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527048"/>
            <a:ext cx="502920" cy="713232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691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159105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19293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368296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368296"/>
            <a:ext cx="502920" cy="713232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5328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24323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9240" y="27706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209544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209544"/>
            <a:ext cx="502920" cy="713232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3741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49240" y="3273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49240" y="36118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6915"/>
            <a:ext cx="91440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4961" y="-7547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14961" y="685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SCTMS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1179576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SCTMS (Smart City Transport Management System) is a full-stack web application designed to digitize and streamline urban transport ticket booking in Bangladesh.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can search routes, select seats, make payments, manage their bookings, and even exchange tickets with other passengers all from a single platform.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07704" y="32826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dirty="0">
              <a:solidFill>
                <a:srgbClr val="00B4D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3683727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manual/paper-based ticket counters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seat availability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secure online payments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peer-to-peer ticket transfers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77840" y="685800"/>
            <a:ext cx="3291840" cy="4206240"/>
          </a:xfrm>
          <a:prstGeom prst="rect">
            <a:avLst/>
          </a:prstGeom>
          <a:solidFill>
            <a:srgbClr val="065A82">
              <a:alpha val="7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777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234440"/>
            <a:ext cx="3017520" cy="45720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3075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12280" y="130759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Public Transport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1764792"/>
            <a:ext cx="30175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8379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12280" y="18379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2295144"/>
            <a:ext cx="3017520" cy="45720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36829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236829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2825496"/>
            <a:ext cx="30175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8986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2280" y="28986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3355848"/>
            <a:ext cx="3017520" cy="45720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429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12280" y="34290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3886200"/>
            <a:ext cx="30175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39593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12280" y="39593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0" y="4416552"/>
            <a:ext cx="3017520" cy="45720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44897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12280" y="448970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85800"/>
            <a:ext cx="27432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7772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7589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&amp; Schedule Search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8328" y="12801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route and schedule lookup across all available trips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72968" y="6858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2968" y="68580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7772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7589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Map &amp; Multi-Seat Booking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82696" y="12801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seat layout with per-seat individual booking IDs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17336" y="6858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17336" y="685800"/>
            <a:ext cx="2743200" cy="50292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7772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7589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Payment Flow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27064" y="12801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payment simulation with OTP verification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28600" y="278892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28600" y="2788920"/>
            <a:ext cx="27432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28803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28620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Exchange Marketplace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38328" y="3383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or swap individual seats P2P without cancelling others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72968" y="278892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72968" y="278892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28803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75888" y="28620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&amp; Notifications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282696" y="3383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Auto-queue system when seats are full; alerts on availability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17336" y="278892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17336" y="2788920"/>
            <a:ext cx="2743200" cy="50292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28803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20256" y="28620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227064" y="3383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promo codes, analytics &amp; booking oversight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2C399A50-FB84-427A-BFC8-04EAFA63E04B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6194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SYSTEM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749808"/>
          </a:xfrm>
          <a:prstGeom prst="rect">
            <a:avLst/>
          </a:prstGeom>
          <a:solidFill>
            <a:srgbClr val="021526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887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97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CSS3  ·  Vanilla JavaScript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1901952"/>
            <a:ext cx="4114800" cy="749808"/>
          </a:xfrm>
          <a:prstGeom prst="rect">
            <a:avLst/>
          </a:prstGeom>
          <a:solidFill>
            <a:srgbClr val="021526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08483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0299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68680" y="2249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Express.js  (REST API)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74320" y="2798064"/>
            <a:ext cx="4114800" cy="749808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980944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88979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686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(SSMS)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274320" y="3694176"/>
            <a:ext cx="4114800" cy="749808"/>
          </a:xfrm>
          <a:prstGeom prst="rect">
            <a:avLst/>
          </a:prstGeom>
          <a:solidFill>
            <a:srgbClr val="021526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87705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803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68680" y="403119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JSON Web Tokens (7-day expiry)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663440" y="5669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(3-Tier)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663440" y="1005840"/>
            <a:ext cx="41148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4800600" y="10149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00600" y="13335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Pages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(Live Server)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92240" y="2029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</a:rPr>
              <a:t>▼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663440" y="2240280"/>
            <a:ext cx="41148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4800600" y="224405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Tier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00600" y="25786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JWT Auth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92240" y="32644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</a:rPr>
              <a:t>▼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4663440" y="3474720"/>
            <a:ext cx="41148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152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4800600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800600" y="38770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SCTMS Database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&amp; API OVERVIEW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Database Tables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338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1338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· Name · Email · Password · Role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09344"/>
            <a:ext cx="4023360" cy="457200"/>
          </a:xfrm>
          <a:prstGeom prst="rect">
            <a:avLst/>
          </a:prstGeom>
          <a:solidFill>
            <a:srgbClr val="E2EBF0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664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664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RouteID · Source · Destination · Duration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39696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94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1945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ScheduleID · RouteID · DepartureTime · SeatsTotal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4023360" cy="457200"/>
          </a:xfrm>
          <a:prstGeom prst="rect">
            <a:avLst/>
          </a:prstGeom>
          <a:solidFill>
            <a:srgbClr val="E2EBF0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7249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27249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BookingID · UserID · ScheduleID · SeatNo · Status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2552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32552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PaymentID · BookingID · Amount · OTP · Status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730752"/>
            <a:ext cx="4023360" cy="457200"/>
          </a:xfrm>
          <a:prstGeom prst="rect">
            <a:avLst/>
          </a:prstGeom>
          <a:solidFill>
            <a:srgbClr val="E2EBF0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TicketTransfers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37856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TransferID · BookingID · ListType · NewOwnerID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26110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3159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43159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NotifID · UserID · Message · IsRead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26280" y="6583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1024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Base: http://localhost:5000/api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1353312"/>
            <a:ext cx="4389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41732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85232" y="14173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5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 &amp; /login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1856232"/>
            <a:ext cx="4389120" cy="429768"/>
          </a:xfrm>
          <a:prstGeom prst="rect">
            <a:avLst/>
          </a:prstGeom>
          <a:solidFill>
            <a:srgbClr val="E2EBF0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9202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85232" y="192024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5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/schedules/search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26280" y="2359152"/>
            <a:ext cx="4389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42316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85232" y="242316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5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26280" y="2862072"/>
            <a:ext cx="4389120" cy="429768"/>
          </a:xfrm>
          <a:prstGeom prst="rect">
            <a:avLst/>
          </a:prstGeom>
          <a:solidFill>
            <a:srgbClr val="E2EBF0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292608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85232" y="292608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5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/bookings/:id/cancel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3364992"/>
            <a:ext cx="4389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42900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85232" y="342900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5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/transfer/marketplace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26280" y="3867912"/>
            <a:ext cx="4389120" cy="429768"/>
          </a:xfrm>
          <a:prstGeom prst="rect">
            <a:avLst/>
          </a:prstGeom>
          <a:solidFill>
            <a:srgbClr val="E2EBF0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393192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85232" y="39319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5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/transfer/list-swap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26280" y="4370832"/>
            <a:ext cx="4389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44348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85232" y="443484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5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/admin/users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0626"/>
            <a:ext cx="91440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SCREENSHOTS</a:t>
            </a:r>
            <a:endParaRPr lang="en-US" sz="1900" dirty="0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60CE486B-1986-425D-AD75-81AD87172EF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913" y="574613"/>
            <a:ext cx="4148577" cy="2072333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0EE4A804-4AEA-4DD6-AAAB-29538005F755}"/>
              </a:ext>
            </a:extLst>
          </p:cNvPr>
          <p:cNvSpPr/>
          <p:nvPr/>
        </p:nvSpPr>
        <p:spPr>
          <a:xfrm>
            <a:off x="1078880" y="2605592"/>
            <a:ext cx="22032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Figure 1: Homepage Interface </a:t>
            </a:r>
            <a:endParaRPr lang="en-GB" sz="1200" dirty="0">
              <a:solidFill>
                <a:schemeClr val="bg1"/>
              </a:solidFill>
            </a:endParaRP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19E544C8-3BF8-4971-8D5D-0CB53A08B1CB}"/>
              </a:ext>
            </a:extLst>
          </p:cNvPr>
          <p:cNvPicPr/>
          <p:nvPr/>
        </p:nvPicPr>
        <p:blipFill rotWithShape="1">
          <a:blip r:embed="rId4"/>
          <a:srcRect r="1236"/>
          <a:stretch>
            <a:fillRect/>
          </a:stretch>
        </p:blipFill>
        <p:spPr bwMode="auto">
          <a:xfrm>
            <a:off x="4461996" y="595238"/>
            <a:ext cx="4573853" cy="20723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75D8AE6-AFE1-4043-A750-C92943682656}"/>
              </a:ext>
            </a:extLst>
          </p:cNvPr>
          <p:cNvGrpSpPr/>
          <p:nvPr/>
        </p:nvGrpSpPr>
        <p:grpSpPr>
          <a:xfrm>
            <a:off x="65913" y="2958216"/>
            <a:ext cx="4024827" cy="1895665"/>
            <a:chOff x="65913" y="2882591"/>
            <a:chExt cx="4024827" cy="1895665"/>
          </a:xfrm>
        </p:grpSpPr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948F9CDA-5B2F-49E1-BA68-D31300321D39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65913" y="2882591"/>
              <a:ext cx="2491657" cy="1895665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541AE431-324B-46D9-9D21-82632633EE50}"/>
                </a:ext>
              </a:extLst>
            </p:cNvPr>
            <p:cNvPicPr/>
            <p:nvPr/>
          </p:nvPicPr>
          <p:blipFill rotWithShape="1">
            <a:blip r:embed="rId6"/>
            <a:srcRect l="13448" t="2652" r="16018" b="6377"/>
            <a:stretch/>
          </p:blipFill>
          <p:spPr>
            <a:xfrm>
              <a:off x="2564446" y="2882591"/>
              <a:ext cx="1526294" cy="1895665"/>
            </a:xfrm>
            <a:prstGeom prst="rect">
              <a:avLst/>
            </a:prstGeom>
          </p:spPr>
        </p:pic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A9DFA2F-F229-4050-9595-93926A237EFD}"/>
              </a:ext>
            </a:extLst>
          </p:cNvPr>
          <p:cNvGrpSpPr/>
          <p:nvPr/>
        </p:nvGrpSpPr>
        <p:grpSpPr>
          <a:xfrm>
            <a:off x="4461996" y="2930716"/>
            <a:ext cx="4587603" cy="1902539"/>
            <a:chOff x="4461996" y="2882591"/>
            <a:chExt cx="4587603" cy="1902539"/>
          </a:xfrm>
        </p:grpSpPr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F2C57341-310F-4D2E-8C28-EAE8FC38596F}"/>
                </a:ext>
              </a:extLst>
            </p:cNvPr>
            <p:cNvPicPr/>
            <p:nvPr/>
          </p:nvPicPr>
          <p:blipFill rotWithShape="1">
            <a:blip r:embed="rId7"/>
            <a:srcRect t="7226"/>
            <a:stretch/>
          </p:blipFill>
          <p:spPr>
            <a:xfrm>
              <a:off x="6943939" y="2889465"/>
              <a:ext cx="2105660" cy="1895665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EE415EF4-0325-4B7A-8B9B-4EDF00931024}"/>
                </a:ext>
              </a:extLst>
            </p:cNvPr>
            <p:cNvPicPr/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91" t="219" r="966" b="-219"/>
            <a:stretch>
              <a:fillRect/>
            </a:stretch>
          </p:blipFill>
          <p:spPr bwMode="auto">
            <a:xfrm>
              <a:off x="4461996" y="2882591"/>
              <a:ext cx="2468193" cy="189566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9D24479-9847-4230-AC30-8709915FE533}"/>
              </a:ext>
            </a:extLst>
          </p:cNvPr>
          <p:cNvSpPr/>
          <p:nvPr/>
        </p:nvSpPr>
        <p:spPr>
          <a:xfrm>
            <a:off x="5760883" y="2660591"/>
            <a:ext cx="1885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Figure 2: Login Interface 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98E1907-AA2B-47A5-ACDE-B079C399727B}"/>
              </a:ext>
            </a:extLst>
          </p:cNvPr>
          <p:cNvSpPr/>
          <p:nvPr/>
        </p:nvSpPr>
        <p:spPr>
          <a:xfrm>
            <a:off x="948251" y="4862747"/>
            <a:ext cx="25007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Figure 3: Ticket Booking Interface 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79B832F-3689-4F33-BC97-E113D2DB4AB1}"/>
              </a:ext>
            </a:extLst>
          </p:cNvPr>
          <p:cNvSpPr/>
          <p:nvPr/>
        </p:nvSpPr>
        <p:spPr>
          <a:xfrm>
            <a:off x="5804396" y="4826381"/>
            <a:ext cx="22790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Figure 4: View Ticket Interface 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EXCHANGE MARKETPLACE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Feature: Per-seat booking IDs allow individual ticket transfers without affecting other seats.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3200400"/>
          </a:xfrm>
          <a:prstGeom prst="rect">
            <a:avLst/>
          </a:prstGeom>
          <a:solidFill>
            <a:srgbClr val="1C7293">
              <a:alpha val="9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207008"/>
            <a:ext cx="676656" cy="6766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243584"/>
            <a:ext cx="676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books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01 → #27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02 → #28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4028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1920240" cy="3200400"/>
          </a:xfrm>
          <a:prstGeom prst="rect">
            <a:avLst/>
          </a:prstGeom>
          <a:solidFill>
            <a:srgbClr val="065A82">
              <a:alpha val="9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207008"/>
            <a:ext cx="676656" cy="6766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243584"/>
            <a:ext cx="676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Sale/Swap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6517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Booking #27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 marketplace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484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1920240" cy="3200400"/>
          </a:xfrm>
          <a:prstGeom prst="rect">
            <a:avLst/>
          </a:prstGeom>
          <a:solidFill>
            <a:srgbClr val="1A4A8A">
              <a:alpha val="9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5232" y="1207008"/>
            <a:ext cx="676656" cy="6766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243584"/>
            <a:ext cx="676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6517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finds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the ticket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858000" y="1097280"/>
            <a:ext cx="1920240" cy="3200400"/>
          </a:xfrm>
          <a:prstGeom prst="rect">
            <a:avLst/>
          </a:prstGeom>
          <a:solidFill>
            <a:srgbClr val="0A3060">
              <a:alpha val="9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9792" y="1207008"/>
            <a:ext cx="676656" cy="6766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1243584"/>
            <a:ext cx="676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49440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6517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#27 → new owner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#28 stays unchanged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434840"/>
            <a:ext cx="8595360" cy="566928"/>
          </a:xfrm>
          <a:prstGeom prst="rect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988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Booking #28 (Seat 02) remains CONFIRMED and unaffected by the transfer of Booking #27.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73152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7955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777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Payment Only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2161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flow uses OTP simulation — no real payment gateway (e.g. bKash, SSL Commerz) is integrated.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68580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685800"/>
            <a:ext cx="73152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7955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777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Mobile App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73752" y="12161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only a browser-based web application. No native Android or iOS app exists.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74320" y="210312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103120"/>
            <a:ext cx="73152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21284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2194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Database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38912" y="26334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MS SQL Server Express locally. Not deployed on cloud (no Azure, AWS, or cloud DB).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210312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103120"/>
            <a:ext cx="73152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21284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2194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Updates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73752" y="26334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availability and notifications are not pushed in real-time (no WebSocket or polling).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274320" y="352044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520440"/>
            <a:ext cx="73152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63016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3611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Email/SMS Notifications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38912" y="40507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 is database-driven only — no actual email or SMS is sent to users.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09160" y="352044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09160" y="3520440"/>
            <a:ext cx="73152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363016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03520" y="3611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Admin Role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873752" y="40507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hierarchy — all admin users have full access; no support for operator-level or moderator roles.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2743200" cy="1920240"/>
          </a:xfrm>
          <a:prstGeom prst="rect">
            <a:avLst/>
          </a:prstGeom>
          <a:solidFill>
            <a:srgbClr val="065A82">
              <a:alpha val="85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8229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8412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8503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Payment Gateway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38328" y="143560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bKash, Nagad, or SSL Commerz for live transactions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72968" y="685800"/>
            <a:ext cx="2743200" cy="1920240"/>
          </a:xfrm>
          <a:prstGeom prst="rect">
            <a:avLst/>
          </a:prstGeom>
          <a:solidFill>
            <a:srgbClr val="065A82">
              <a:alpha val="85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82696" y="8229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8412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768" y="8503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282696" y="143560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native Android/iOS app using React Native or Flutter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17336" y="685800"/>
            <a:ext cx="2743200" cy="1920240"/>
          </a:xfrm>
          <a:prstGeom prst="rect">
            <a:avLst/>
          </a:prstGeom>
          <a:solidFill>
            <a:srgbClr val="065A82">
              <a:alpha val="85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27064" y="8229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8412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03136" y="8503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27064" y="143560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backend on AWS/Azure; migrate DB to cloud SQL Server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28600" y="2834640"/>
            <a:ext cx="2743200" cy="1920240"/>
          </a:xfrm>
          <a:prstGeom prst="rect">
            <a:avLst/>
          </a:prstGeom>
          <a:solidFill>
            <a:srgbClr val="065A82">
              <a:alpha val="85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38328" y="29718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" y="299008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29992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Notifications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38328" y="358444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WebSockets for live seat updates and push alerts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72968" y="2834640"/>
            <a:ext cx="2743200" cy="1920240"/>
          </a:xfrm>
          <a:prstGeom prst="rect">
            <a:avLst/>
          </a:prstGeom>
          <a:solidFill>
            <a:srgbClr val="065A82">
              <a:alpha val="85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82696" y="29718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984" y="2990088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58768" y="29992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282696" y="358444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charts, peak-hour heatmaps for transport operators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17336" y="2834640"/>
            <a:ext cx="2743200" cy="1920240"/>
          </a:xfrm>
          <a:prstGeom prst="rect">
            <a:avLst/>
          </a:prstGeom>
          <a:solidFill>
            <a:srgbClr val="065A82">
              <a:alpha val="85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27064" y="29718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2990088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03136" y="29992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Route Tracking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227064" y="358444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vehicle tracking and estimated arrival time for passengers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">
            <a:extLst>
              <a:ext uri="{FF2B5EF4-FFF2-40B4-BE49-F238E27FC236}">
                <a16:creationId xmlns:a16="http://schemas.microsoft.com/office/drawing/2014/main" id="{79B363F4-28EE-4839-B187-FF8BE85D800E}"/>
              </a:ext>
            </a:extLst>
          </p:cNvPr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chemeClr val="tx1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7005" y="45720"/>
            <a:ext cx="1518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42ACEC68-40D6-4CD5-8DE8-CA24907E1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83" y="638187"/>
            <a:ext cx="883356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 City Transport Management System (SCTMS) successfully provides a secure, efficient, and user-friendly solution for transport management. By integrating database technologies, authentication, automated booking, and administrative controls, the system ensures reliable service and data integrity. Overall, the project demonstrates how modern database-driven applications can improve transportation services while offering scalability for future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3537244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52157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SCTMS</a:t>
            </a:r>
            <a:endParaRPr lang="en-US" sz="6000" dirty="0">
              <a:solidFill>
                <a:srgbClr val="64748B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2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E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Transport Management System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0" y="2007459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3723718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437" y="2674269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925</Words>
  <Application>Microsoft Office PowerPoint</Application>
  <PresentationFormat>On-screen Show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Mincho</vt:lpstr>
      <vt:lpstr>Arial</vt:lpstr>
      <vt:lpstr>Arial Black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SCTMS – Smart City Transport Management System</dc:title>
  <dc:subject>PptxGenJS Presentation</dc:subject>
  <dc:creator>PptxGenJS</dc:creator>
  <cp:lastModifiedBy>Acer</cp:lastModifiedBy>
  <cp:revision>14</cp:revision>
  <dcterms:created xsi:type="dcterms:W3CDTF">2026-05-30T16:43:46Z</dcterms:created>
  <dcterms:modified xsi:type="dcterms:W3CDTF">2026-05-31T19:57:03Z</dcterms:modified>
</cp:coreProperties>
</file>